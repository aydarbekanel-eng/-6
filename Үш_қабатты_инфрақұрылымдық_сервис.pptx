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18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899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ҮШ ҚАБАТТЫ СЕРВИС ПАСПОРТЫ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0">
                <a:solidFill>
                  <a:srgbClr val="D0E5F1"/>
                </a:solidFill>
                <a:latin typeface="Aptos"/>
              </a:defRPr>
            </a:pPr>
            <a:r>
              <a:t>Инфрақұрылымдық сервистер: Nginx, application және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73152" cy="214884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679192"/>
            <a:ext cx="30175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Мақсаты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3154680"/>
            <a:ext cx="3017520" cy="1399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0">
                <a:solidFill>
                  <a:srgbClr val="2B3D4B"/>
                </a:solidFill>
                <a:latin typeface="Aptos"/>
              </a:defRPr>
            </a:pPr>
            <a:r>
              <a:t>Порталдың тұрақты жұмысын қамтамасыз ету және қызмет қабаттарының тәуелділігін түсіндіру.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5146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2514600"/>
            <a:ext cx="73152" cy="214884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679192"/>
            <a:ext cx="30175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Негізгі тәсіл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3154680"/>
            <a:ext cx="3017520" cy="1399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0">
                <a:solidFill>
                  <a:srgbClr val="2B3D4B"/>
                </a:solidFill>
                <a:latin typeface="Aptos"/>
              </a:defRPr>
            </a:pPr>
            <a:r>
              <a:t>Конфигурацияны тексеру, порттарды бақылау және HTTP жауабымен нәтижені растау.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251460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37575" y="2514600"/>
            <a:ext cx="73152" cy="2148840"/>
          </a:xfrm>
          <a:prstGeom prst="rect">
            <a:avLst/>
          </a:prstGeom>
          <a:solidFill>
            <a:srgbClr val="71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2679192"/>
            <a:ext cx="30175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7152BE"/>
                </a:solidFill>
                <a:latin typeface="Aptos"/>
              </a:defRPr>
            </a:pPr>
            <a:r>
              <a:t>Нәтиже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154680"/>
            <a:ext cx="3017520" cy="1399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0">
                <a:solidFill>
                  <a:srgbClr val="2B3D4B"/>
                </a:solidFill>
                <a:latin typeface="Aptos"/>
              </a:defRPr>
            </a:pPr>
            <a:r>
              <a:t>Портал HTTP 200 OK жауабын берді, backend қолжетімді және журналда сұраныс тіркелген.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10789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400" b="0">
                <a:solidFill>
                  <a:srgbClr val="5E7484"/>
                </a:solidFill>
                <a:latin typeface="Aptos"/>
              </a:defRPr>
            </a:pPr>
            <a:r>
              <a:t>Дайындаған: ____________________     Пәні: Инфрақұрылымдық сервистер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2800" b="1">
                <a:solidFill>
                  <a:srgbClr val="183752"/>
                </a:solidFill>
                <a:latin typeface="Aptos"/>
              </a:defRPr>
            </a:pPr>
            <a:r>
              <a:t>1. Үш қабатты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5E7484"/>
                </a:solidFill>
                <a:latin typeface="Aptos"/>
              </a:defRPr>
            </a:pPr>
            <a:r>
              <a:t>Әр қабаттың өз міндеті бар; істен шығу бір немесе бірнеше қызметке әсер етуі мүмкін.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914400" cy="50292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205740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6974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WEB — Nginx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697480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Порт: 80</a:t>
            </a:r>
            <a:br/>
            <a:r>
              <a:t>HTTP сұранысын қабылдайды</a:t>
            </a:r>
            <a:br/>
            <a:r>
              <a:t>Reverse proxy арқылы бағыттайды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800" b="1">
                <a:solidFill>
                  <a:srgbClr val="167EA6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0632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73152" cy="205740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26974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14600"/>
            <a:ext cx="2697480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Қызмет: portal-app</a:t>
            </a:r>
            <a:br/>
            <a:r>
              <a:t>Порт: 127.0.0.1:8000</a:t>
            </a:r>
            <a:br/>
            <a:r>
              <a:t>Бизнес логиканы орындайды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514600"/>
            <a:ext cx="502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800" b="1">
                <a:solidFill>
                  <a:srgbClr val="167EA6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74519"/>
            <a:ext cx="33375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74519"/>
            <a:ext cx="73152" cy="2057400"/>
          </a:xfrm>
          <a:prstGeom prst="rect">
            <a:avLst/>
          </a:prstGeom>
          <a:solidFill>
            <a:srgbClr val="71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039112"/>
            <a:ext cx="2971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7152B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514600"/>
            <a:ext cx="2971800" cy="1307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Мысал: PostgreSQL</a:t>
            </a:r>
            <a:br/>
            <a:r>
              <a:t>Порт: 5432</a:t>
            </a:r>
            <a:br/>
            <a:r>
              <a:t>Деректерді сақтайды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73152" cy="1143000"/>
          </a:xfrm>
          <a:prstGeom prst="rect">
            <a:avLst/>
          </a:prstGeom>
          <a:solidFill>
            <a:srgbClr val="D0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53712"/>
            <a:ext cx="46177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D09728"/>
                </a:solidFill>
                <a:latin typeface="Aptos"/>
              </a:defRPr>
            </a:pPr>
            <a:r>
              <a:t>Тәуелділік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029200"/>
            <a:ext cx="4617720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0">
                <a:solidFill>
                  <a:srgbClr val="2B3D4B"/>
                </a:solidFill>
                <a:latin typeface="Aptos"/>
              </a:defRPr>
            </a:pPr>
            <a:r>
              <a:t>Web → Application → Database. Әр қабаттың қолжетімділігі бөлек тексеріледі.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389120"/>
            <a:ext cx="4983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389120"/>
            <a:ext cx="73152" cy="1143000"/>
          </a:xfrm>
          <a:prstGeom prst="rect">
            <a:avLst/>
          </a:prstGeom>
          <a:solidFill>
            <a:srgbClr val="C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553712"/>
            <a:ext cx="46177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C44949"/>
                </a:solidFill>
                <a:latin typeface="Aptos"/>
              </a:defRPr>
            </a:pPr>
            <a:r>
              <a:t>Маңызды қағида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5029200"/>
            <a:ext cx="4617720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0">
                <a:solidFill>
                  <a:srgbClr val="2B3D4B"/>
                </a:solidFill>
                <a:latin typeface="Aptos"/>
              </a:defRPr>
            </a:pPr>
            <a:r>
              <a:t>Nginx active болуы порталдың толық жұмыс істеп тұрғанын өздігінен дәлелдемейді.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2800" b="1">
                <a:solidFill>
                  <a:srgbClr val="183752"/>
                </a:solidFill>
                <a:latin typeface="Aptos"/>
              </a:defRPr>
            </a:pPr>
            <a:r>
              <a:t>2. Конфигурация және порттар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5E7484"/>
                </a:solidFill>
                <a:latin typeface="Aptos"/>
              </a:defRPr>
            </a:pPr>
            <a:r>
              <a:t>Reverse proxy сұранысты ішкі application сервисіне бағыттайды.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914400" cy="50292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434340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493775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Nginx конфигурациясының мысалы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31720"/>
            <a:ext cx="4937759" cy="3593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0">
                <a:solidFill>
                  <a:srgbClr val="2B3D4B"/>
                </a:solidFill>
                <a:latin typeface="Aptos"/>
              </a:defRPr>
            </a:pPr>
            <a:r>
              <a:t>upstream portal_backend {</a:t>
            </a:r>
            <a:br/>
            <a:r>
              <a:t>    server 127.0.0.1:8000;</a:t>
            </a:r>
            <a:br/>
            <a:r>
              <a:t>}</a:t>
            </a:r>
            <a:br/>
            <a:br/>
            <a:r>
              <a:t>server {</a:t>
            </a:r>
            <a:br/>
            <a:r>
              <a:t>    listen 80;</a:t>
            </a:r>
            <a:br/>
            <a:r>
              <a:t>    server_name portal.local;</a:t>
            </a:r>
            <a:br/>
            <a:r>
              <a:t>    location / {</a:t>
            </a:r>
            <a:br/>
            <a:r>
              <a:t>        proxy_pass http://portal_backend;</a:t>
            </a:r>
            <a:br/>
            <a:r>
              <a:t>        proxy_set_header Host $host;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4846320" cy="3154680"/>
          </a:xfrm>
          <a:prstGeom prst="roundRect">
            <a:avLst/>
          </a:prstGeom>
          <a:solidFill>
            <a:srgbClr val="1D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70048"/>
            <a:ext cx="4526280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D2EBE2"/>
                </a:solidFill>
                <a:latin typeface="Courier New"/>
              </a:defRPr>
            </a:pPr>
            <a:r>
              <a:t>upstream portal_backend {</a:t>
            </a:r>
            <a:br/>
            <a:r>
              <a:t>    server 127.0.0.1:8000;</a:t>
            </a:r>
            <a:br/>
            <a:r>
              <a:t>}</a:t>
            </a:r>
            <a:br/>
            <a:br/>
            <a:r>
              <a:t>server {</a:t>
            </a:r>
            <a:br/>
            <a:r>
              <a:t>    listen 80;</a:t>
            </a:r>
            <a:br/>
            <a:r>
              <a:t>    server_name portal.local;</a:t>
            </a:r>
            <a:br/>
            <a:r>
              <a:t>    location / {</a:t>
            </a:r>
            <a:br/>
            <a:r>
              <a:t>        proxy_pass http://portal_backend;</a:t>
            </a:r>
            <a:br/>
            <a:r>
              <a:t>        proxy_set_header Host $host;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73152" cy="182880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856232"/>
            <a:ext cx="470915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Порттар кестесі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331720"/>
            <a:ext cx="4709159" cy="10789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0">
                <a:solidFill>
                  <a:srgbClr val="2B3D4B"/>
                </a:solidFill>
                <a:latin typeface="Aptos"/>
              </a:defRPr>
            </a:pPr>
            <a:r>
              <a:t>Web / Nginx — 80</a:t>
            </a:r>
            <a:br/>
            <a:r>
              <a:t>Application — 8000</a:t>
            </a:r>
            <a:br/>
            <a:r>
              <a:t>Database — 5432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49039"/>
            <a:ext cx="73152" cy="1874519"/>
          </a:xfrm>
          <a:prstGeom prst="rect">
            <a:avLst/>
          </a:prstGeom>
          <a:solidFill>
            <a:srgbClr val="71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3913631"/>
            <a:ext cx="470915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7152BE"/>
                </a:solidFill>
                <a:latin typeface="Aptos"/>
              </a:defRPr>
            </a:pPr>
            <a:r>
              <a:t>Тексеру реті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389120"/>
            <a:ext cx="4709159" cy="11247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0">
                <a:solidFill>
                  <a:srgbClr val="2B3D4B"/>
                </a:solidFill>
                <a:latin typeface="Aptos"/>
              </a:defRPr>
            </a:pPr>
            <a:r>
              <a:t>1. Application сервисін іске қосу</a:t>
            </a:r>
            <a:br/>
            <a:r>
              <a:t>2. 8000 портын тексеру</a:t>
            </a:r>
            <a:br/>
            <a:r>
              <a:t>3. nginx -t арқылы конфигурацияны тексеру</a:t>
            </a:r>
            <a:br/>
            <a:r>
              <a:t>4. Қауіпсіз reload жасау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2800" b="1">
                <a:solidFill>
                  <a:srgbClr val="183752"/>
                </a:solidFill>
                <a:latin typeface="Aptos"/>
              </a:defRPr>
            </a:pPr>
            <a:r>
              <a:t>3. Зертханалық жұмыс нәтижесі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5E7484"/>
                </a:solidFill>
                <a:latin typeface="Aptos"/>
              </a:defRPr>
            </a:pPr>
            <a:r>
              <a:t>Пайдаланушы берген терминал скриншоты — қабылдау тестінің дәлелі.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914400" cy="50292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6" name="Picture 5" descr="Снимок экрана 2026-10-29 в 15.02.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99" y="1623060"/>
            <a:ext cx="5479896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23560"/>
            <a:ext cx="3429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73152" cy="68580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788152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263640"/>
            <a:ext cx="3063240" cy="-640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2B3D4B"/>
                </a:solidFill>
                <a:latin typeface="Aptos"/>
              </a:defRPr>
            </a:pPr>
            <a:r>
              <a:t>127.0.0.1:8000 LISTEN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623560"/>
            <a:ext cx="3429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5623560"/>
            <a:ext cx="73152" cy="68580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5788152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HTTP жауабы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6263640"/>
            <a:ext cx="3063240" cy="-640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2B3D4B"/>
                </a:solidFill>
                <a:latin typeface="Aptos"/>
              </a:defRPr>
            </a:pPr>
            <a:r>
              <a:t>200 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623560"/>
            <a:ext cx="3429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5623560"/>
            <a:ext cx="73152" cy="685800"/>
          </a:xfrm>
          <a:prstGeom prst="rect">
            <a:avLst/>
          </a:prstGeom>
          <a:solidFill>
            <a:srgbClr val="71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5788152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7152BE"/>
                </a:solidFill>
                <a:latin typeface="Aptos"/>
              </a:defRPr>
            </a:pPr>
            <a:r>
              <a:t>Журнал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6263640"/>
            <a:ext cx="3063240" cy="-640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200" b="0">
                <a:solidFill>
                  <a:srgbClr val="2B3D4B"/>
                </a:solidFill>
                <a:latin typeface="Aptos"/>
              </a:defRPr>
            </a:pPr>
            <a:r>
              <a:t>GET / 200, 0.042s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2800" b="1">
                <a:solidFill>
                  <a:srgbClr val="183752"/>
                </a:solidFill>
                <a:latin typeface="Aptos"/>
              </a:defRPr>
            </a:pPr>
            <a:r>
              <a:t>4. Қабылдау тесттері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5E7484"/>
                </a:solidFill>
                <a:latin typeface="Aptos"/>
              </a:defRPr>
            </a:pPr>
            <a:r>
              <a:t>Кемінде үш өлшем арқылы сервистің нақты жұмысын растау.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914400" cy="50292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73152" cy="86868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102870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1. Application порты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0287000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2B3D4B"/>
                </a:solidFill>
                <a:latin typeface="Aptos"/>
              </a:defRPr>
            </a:pPr>
            <a:r>
              <a:t>Команда: port check 8000</a:t>
            </a:r>
            <a:br/>
            <a:r>
              <a:t>Күтілетін нәтиже: 127.0.0.1:8000 LISTEN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0632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770632"/>
            <a:ext cx="73152" cy="86868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935224"/>
            <a:ext cx="102870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2. Nginx конфигурациясы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410712"/>
            <a:ext cx="10287000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2B3D4B"/>
                </a:solidFill>
                <a:latin typeface="Aptos"/>
              </a:defRPr>
            </a:pPr>
            <a:r>
              <a:t>Команда: config test nginx</a:t>
            </a:r>
            <a:br/>
            <a:r>
              <a:t>Күтілетін нәтиже: syntax is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849624"/>
            <a:ext cx="73152" cy="868680"/>
          </a:xfrm>
          <a:prstGeom prst="rect">
            <a:avLst/>
          </a:prstGeom>
          <a:solidFill>
            <a:srgbClr val="715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014215"/>
            <a:ext cx="102870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7152BE"/>
                </a:solidFill>
                <a:latin typeface="Aptos"/>
              </a:defRPr>
            </a:pPr>
            <a:r>
              <a:t>3. Функционалдық тест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489704"/>
            <a:ext cx="10287000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2B3D4B"/>
                </a:solidFill>
                <a:latin typeface="Aptos"/>
              </a:defRPr>
            </a:pPr>
            <a:r>
              <a:t>Команда: curl portal.local</a:t>
            </a:r>
            <a:br/>
            <a:r>
              <a:t>Күтілетін нәтиже: HTTP/1.1 200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28616"/>
            <a:ext cx="106527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928616"/>
            <a:ext cx="73152" cy="868680"/>
          </a:xfrm>
          <a:prstGeom prst="rect">
            <a:avLst/>
          </a:prstGeom>
          <a:solidFill>
            <a:srgbClr val="D0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093208"/>
            <a:ext cx="102870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D09728"/>
                </a:solidFill>
                <a:latin typeface="Aptos"/>
              </a:defRPr>
            </a:pPr>
            <a:r>
              <a:t>4. Журналды тексеру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568696"/>
            <a:ext cx="10287000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2B3D4B"/>
                </a:solidFill>
                <a:latin typeface="Aptos"/>
              </a:defRPr>
            </a:pPr>
            <a:r>
              <a:t>Команда: log check nginx</a:t>
            </a:r>
            <a:br/>
            <a:r>
              <a:t>Күтілетін нәтиже: GET / 200 және response уақыты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2800" b="1">
                <a:solidFill>
                  <a:srgbClr val="183752"/>
                </a:solidFill>
                <a:latin typeface="Aptos"/>
              </a:defRPr>
            </a:pPr>
            <a:r>
              <a:t>5. Тәуекел, rollback және қорытынды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" y="841248"/>
            <a:ext cx="109728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300" b="0">
                <a:solidFill>
                  <a:srgbClr val="5E7484"/>
                </a:solidFill>
                <a:latin typeface="Aptos"/>
              </a:defRPr>
            </a:pPr>
            <a:r>
              <a:t>Қате анықталса, өзгерісті қауіпсіз қайтару және қайта тексеру қажет.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914400" cy="50292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0">
                <a:solidFill>
                  <a:srgbClr val="5E748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2011680"/>
          </a:xfrm>
          <a:prstGeom prst="rect">
            <a:avLst/>
          </a:prstGeom>
          <a:solidFill>
            <a:srgbClr val="C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C44949"/>
                </a:solidFill>
                <a:latin typeface="Aptos"/>
              </a:defRPr>
            </a:pPr>
            <a:r>
              <a:t>Негізгі қауіп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7439"/>
            <a:ext cx="3108960" cy="1261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Application сервисі тоқтаса, Nginx 502 Bad Gateway қатесін қайтаруы мүмкін.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37360"/>
            <a:ext cx="73152" cy="2011680"/>
          </a:xfrm>
          <a:prstGeom prst="rect">
            <a:avLst/>
          </a:prstGeom>
          <a:solidFill>
            <a:srgbClr val="21A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21A08F"/>
                </a:solidFill>
                <a:latin typeface="Aptos"/>
              </a:defRPr>
            </a:pPr>
            <a:r>
              <a:t>Азайту тәсілі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39"/>
            <a:ext cx="3108960" cy="1261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Health check және мониторинг қосу; конфигурацияның резервтік көшірмесін сақтау.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2011680"/>
          </a:xfrm>
          <a:prstGeom prst="rect">
            <a:avLst/>
          </a:prstGeom>
          <a:solidFill>
            <a:srgbClr val="D09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D09728"/>
                </a:solidFill>
                <a:latin typeface="Aptos"/>
              </a:defRPr>
            </a:pPr>
            <a:r>
              <a:t>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77439"/>
            <a:ext cx="3108960" cy="1261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600" b="0">
                <a:solidFill>
                  <a:srgbClr val="2B3D4B"/>
                </a:solidFill>
                <a:latin typeface="Aptos"/>
              </a:defRPr>
            </a:pPr>
            <a:r>
              <a:t>Соңғы дұрыс конфигурацияға оралу, сервисті тексеру және HTTP тестін қайталау.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0520"/>
            <a:ext cx="10652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160520"/>
            <a:ext cx="73152" cy="1417320"/>
          </a:xfrm>
          <a:prstGeom prst="rect">
            <a:avLst/>
          </a:prstGeom>
          <a:solidFill>
            <a:srgbClr val="167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4325112"/>
            <a:ext cx="102870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700" b="1">
                <a:solidFill>
                  <a:srgbClr val="167EA6"/>
                </a:solidFill>
                <a:latin typeface="Aptos"/>
              </a:defRPr>
            </a:pPr>
            <a:r>
              <a:t>Қорытынды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800600"/>
            <a:ext cx="10287000" cy="6675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>
              <a:defRPr sz="1500" b="0">
                <a:solidFill>
                  <a:srgbClr val="2B3D4B"/>
                </a:solidFill>
                <a:latin typeface="Aptos"/>
              </a:defRPr>
            </a:pPr>
            <a:r>
              <a:t>Зертханада portal-app 8000 портында іске қосылды. Nginx конфигурациясы тексеріліп, қайта жүктелді. portal.local адресі HTTP 200 OK қайтарды, ал журналда GET / 200 сұранысы 0.042 секундта орындалғаны көрсетілді. Бұл нәтижелер Web және Application қабаттарының байланысы жұмыс істейтінін дәлелдейді. Database қабатының нақты жұмысын растау үшін бөлек health check қажет.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